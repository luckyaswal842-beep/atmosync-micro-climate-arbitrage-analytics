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18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AAFA5-B1FC-45ED-9410-0C549450384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53992-70C4-48A0-87DB-66AD5227A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20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E53992-70C4-48A0-87DB-66AD5227AA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59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E53992-70C4-48A0-87DB-66AD5227AA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04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2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6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00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7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8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22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41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6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50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4821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54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56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597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710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36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0F1F0E6-3A7E-4BF4-AB85-76D5BBE364B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251C2-AB39-4996-82DE-539B99E7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086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D154-95A4-87F4-8E32-6EAF3BB30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50985"/>
            <a:ext cx="8825658" cy="3329581"/>
          </a:xfrm>
        </p:spPr>
        <p:txBody>
          <a:bodyPr/>
          <a:lstStyle/>
          <a:p>
            <a:pPr algn="ctr"/>
            <a:r>
              <a:rPr lang="en-US" sz="6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AtmoSync</a:t>
            </a:r>
            <a:r>
              <a:rPr lang="en-US" sz="6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Micro-Climate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EDFD1-3F72-FBBE-0016-9C37996FE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466604"/>
            <a:ext cx="8825658" cy="86142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Data Analytics Group - 5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E8176-08A2-F881-0651-DF5EE582CCC3}"/>
              </a:ext>
            </a:extLst>
          </p:cNvPr>
          <p:cNvSpPr txBox="1"/>
          <p:nvPr/>
        </p:nvSpPr>
        <p:spPr>
          <a:xfrm>
            <a:off x="9980613" y="4874285"/>
            <a:ext cx="2945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By </a:t>
            </a:r>
          </a:p>
          <a:p>
            <a:endParaRPr lang="en-US" b="1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Mameeth C</a:t>
            </a:r>
          </a:p>
          <a:p>
            <a:pPr algn="just"/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Aparna V</a:t>
            </a:r>
          </a:p>
          <a:p>
            <a:pPr algn="just"/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Malavika M</a:t>
            </a:r>
          </a:p>
          <a:p>
            <a:pPr algn="just"/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Lucky Aswal</a:t>
            </a:r>
          </a:p>
        </p:txBody>
      </p:sp>
    </p:spTree>
    <p:extLst>
      <p:ext uri="{BB962C8B-B14F-4D97-AF65-F5344CB8AC3E}">
        <p14:creationId xmlns:p14="http://schemas.microsoft.com/office/powerpoint/2010/main" val="411170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5C37D-EBF2-9351-84E6-31B6BE8D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Problem statements &amp;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12549-224A-A940-2EA1-BDDE640CE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31259"/>
            <a:ext cx="8946541" cy="4195481"/>
          </a:xfrm>
        </p:spPr>
        <p:txBody>
          <a:bodyPr>
            <a:noAutofit/>
          </a:bodyPr>
          <a:lstStyle/>
          <a:p>
            <a:pPr algn="just"/>
            <a:r>
              <a:rPr lang="en-US" sz="1600" dirty="0"/>
              <a:t>Traditional supply chain analytics rely on standard transit times and macro-weather forecasts. They fail to track how real-time, hyper-local micro-climate shifts (e.g., sudden humidity spikes inside a specific shipping container) degrade agricultural commodities before they reach the market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USECASES:</a:t>
            </a:r>
          </a:p>
          <a:p>
            <a:pPr algn="just"/>
            <a:r>
              <a:rPr lang="en-US" sz="1600" dirty="0"/>
              <a:t>A commodities trader at </a:t>
            </a:r>
            <a:r>
              <a:rPr lang="en-US" sz="1600" dirty="0" err="1"/>
              <a:t>Infotact</a:t>
            </a:r>
            <a:r>
              <a:rPr lang="en-US" sz="1600" dirty="0"/>
              <a:t> monitors the </a:t>
            </a:r>
            <a:r>
              <a:rPr lang="en-US" sz="1600" dirty="0" err="1"/>
              <a:t>AtmoSync</a:t>
            </a:r>
            <a:r>
              <a:rPr lang="en-US" sz="1600" dirty="0"/>
              <a:t> dashboard. The streaming pipeline detects that Container A's internal temperature has drifted, increasing the spoilage rate of the avocados inside. </a:t>
            </a:r>
          </a:p>
          <a:p>
            <a:pPr algn="just"/>
            <a:r>
              <a:rPr lang="en-US" sz="1600" dirty="0"/>
              <a:t>The dashboard instantly calculates "Spoilage Arbitrage" and alerts the trader to reroute the shipment to a closer, secondary market—securing a premium price before the goods degrade below quality thresholds.</a:t>
            </a:r>
          </a:p>
        </p:txBody>
      </p:sp>
    </p:spTree>
    <p:extLst>
      <p:ext uri="{BB962C8B-B14F-4D97-AF65-F5344CB8AC3E}">
        <p14:creationId xmlns:p14="http://schemas.microsoft.com/office/powerpoint/2010/main" val="292602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B2C0-064E-E11B-95F9-BDE939724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OverView</a:t>
            </a:r>
            <a:endParaRPr lang="en-US" sz="36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7F731A7-E591-0085-AB7B-EEF882B86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4939" y="2321865"/>
            <a:ext cx="8230313" cy="3639320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0F8E45-5362-720F-81C2-F751EF158ABD}"/>
              </a:ext>
            </a:extLst>
          </p:cNvPr>
          <p:cNvSpPr txBox="1"/>
          <p:nvPr/>
        </p:nvSpPr>
        <p:spPr>
          <a:xfrm>
            <a:off x="1444939" y="1371600"/>
            <a:ext cx="7637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600" dirty="0"/>
              <a:t>This report explains, in plain language, what the sensor data from 550 shipping containers (50,000 individual readings) tells us about cargo quality, spoilage risk, and money-saving reroute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2562121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D4F6-A6B8-D263-8929-712863CA7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Step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97D8B-CD77-A264-68B9-DA18F2E53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62808"/>
            <a:ext cx="8946541" cy="48855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1. Overall Fleet Health: What Shape Is the Cargo In? 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dirty="0"/>
              <a:t>Out of 550 containers currently being tracked, most cargo is travelling safely. But a meaningful slice needs attention right now: </a:t>
            </a:r>
          </a:p>
          <a:p>
            <a:pPr algn="just"/>
            <a:r>
              <a:rPr lang="en-US" b="1" dirty="0"/>
              <a:t>456 containers (83%)</a:t>
            </a:r>
            <a:r>
              <a:rPr lang="en-US" dirty="0"/>
              <a:t> are Normal — temperature and humidity are staying inside the safe range for that commodity. </a:t>
            </a:r>
          </a:p>
          <a:p>
            <a:pPr algn="just"/>
            <a:r>
              <a:rPr lang="en-US" b="1" dirty="0"/>
              <a:t>20 containers</a:t>
            </a:r>
            <a:r>
              <a:rPr lang="en-US" dirty="0"/>
              <a:t> are on Watch — starting to drift, worth keeping an eye on. </a:t>
            </a:r>
          </a:p>
          <a:p>
            <a:pPr algn="just"/>
            <a:r>
              <a:rPr lang="en-US" b="1" dirty="0"/>
              <a:t>23 containers</a:t>
            </a:r>
            <a:r>
              <a:rPr lang="en-US" dirty="0"/>
              <a:t> are At-Risk — quality has dropped enough that rerouting to a closer market is recommended. </a:t>
            </a:r>
          </a:p>
          <a:p>
            <a:pPr algn="just"/>
            <a:r>
              <a:rPr lang="en-US" b="1" dirty="0"/>
              <a:t>51 containers</a:t>
            </a:r>
            <a:r>
              <a:rPr lang="en-US" dirty="0"/>
              <a:t> are Critical — spoilage is advanced; an emergency discount sale is recommended before the cargo becomes worthless.</a:t>
            </a:r>
          </a:p>
        </p:txBody>
      </p:sp>
    </p:spTree>
    <p:extLst>
      <p:ext uri="{BB962C8B-B14F-4D97-AF65-F5344CB8AC3E}">
        <p14:creationId xmlns:p14="http://schemas.microsoft.com/office/powerpoint/2010/main" val="48146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ED0F-406E-F947-AF22-996E1E1B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Bar Chat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6E1111-042A-AD1C-1BD9-19DD07604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853" y="1283083"/>
            <a:ext cx="7410331" cy="361616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123998-D9F6-1232-9EE4-5B44F5A96993}"/>
              </a:ext>
            </a:extLst>
          </p:cNvPr>
          <p:cNvSpPr txBox="1"/>
          <p:nvPr/>
        </p:nvSpPr>
        <p:spPr>
          <a:xfrm>
            <a:off x="1979852" y="5085389"/>
            <a:ext cx="741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Snapshot of every container's current status, based on its most recent sensor reading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754880-794D-7002-CFA2-967A2001DEE4}"/>
              </a:ext>
            </a:extLst>
          </p:cNvPr>
          <p:cNvSpPr txBox="1"/>
          <p:nvPr/>
        </p:nvSpPr>
        <p:spPr>
          <a:xfrm>
            <a:off x="1979852" y="5729610"/>
            <a:ext cx="74103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500" b="1" dirty="0"/>
              <a:t>In plain terms:</a:t>
            </a:r>
            <a:r>
              <a:rPr lang="en-US" sz="1500" dirty="0"/>
              <a:t> about 1 in 8 containers currently need a business decision — either reroute them to a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500" dirty="0"/>
              <a:t>nearer market or sell the goods off quickly at a discount before they spoil completely.</a:t>
            </a:r>
          </a:p>
        </p:txBody>
      </p:sp>
    </p:spTree>
    <p:extLst>
      <p:ext uri="{BB962C8B-B14F-4D97-AF65-F5344CB8AC3E}">
        <p14:creationId xmlns:p14="http://schemas.microsoft.com/office/powerpoint/2010/main" val="3635193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35DCF-82D0-6D85-38C0-EA0D835F1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Step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5FA58-A792-1441-71DE-F61954A81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15562"/>
            <a:ext cx="8946541" cy="483283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2. What's Actually Causing the Spoilage? 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dirty="0"/>
              <a:t>We checked which sensor readings actually predict cargo quality dropping. Temperature turned out to be by far the biggest factor. </a:t>
            </a:r>
          </a:p>
          <a:p>
            <a:pPr algn="just"/>
            <a:r>
              <a:rPr lang="en-US" b="1" dirty="0"/>
              <a:t>Temperature drift</a:t>
            </a:r>
            <a:r>
              <a:rPr lang="en-US" dirty="0"/>
              <a:t> has a very strong negative relationship with quality (correlation of -0.84). The more a container's temperature strays outside the ideal band for that commodity, the faster the cargo's quality score</a:t>
            </a:r>
          </a:p>
          <a:p>
            <a:pPr algn="just"/>
            <a:r>
              <a:rPr lang="en-US" b="1" dirty="0"/>
              <a:t>Low humidity</a:t>
            </a:r>
            <a:r>
              <a:rPr lang="en-US" dirty="0"/>
              <a:t> also hurts quality, but less strongly (correlation of -0.61). Dry air speeds up spoilage, especially for delicate fruit like strawberries and grapes. </a:t>
            </a:r>
          </a:p>
          <a:p>
            <a:pPr algn="just"/>
            <a:r>
              <a:rPr lang="en-US" b="1" dirty="0"/>
              <a:t>Vibration/rough handling</a:t>
            </a:r>
            <a:r>
              <a:rPr lang="en-US" dirty="0"/>
              <a:t> showed almost no relationship with quality in this data (correlation close to 0) — meaning bumpy transport alone isn't what's spoiling this cargo; it's the climate control.</a:t>
            </a:r>
          </a:p>
        </p:txBody>
      </p:sp>
    </p:spTree>
    <p:extLst>
      <p:ext uri="{BB962C8B-B14F-4D97-AF65-F5344CB8AC3E}">
        <p14:creationId xmlns:p14="http://schemas.microsoft.com/office/powerpoint/2010/main" val="2852044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6FCE1-CCEE-530C-D4D9-B9239B0A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Scatter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D5207D-30E9-D153-CECF-E3E90956A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1166" y="1380393"/>
            <a:ext cx="6703895" cy="326194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2C0060-E267-8E6B-6D8E-94344E80D8DF}"/>
              </a:ext>
            </a:extLst>
          </p:cNvPr>
          <p:cNvSpPr txBox="1"/>
          <p:nvPr/>
        </p:nvSpPr>
        <p:spPr>
          <a:xfrm>
            <a:off x="2141164" y="4765412"/>
            <a:ext cx="6703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/>
              <a:t>Each dot is one sensor reading. The further right (bigger temperature drift), the lower the quality score — the pattern is clear and consistent</a:t>
            </a:r>
            <a:r>
              <a:rPr lang="en-US" sz="1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941DA3-AB17-7D30-5F77-409BE9C629DF}"/>
              </a:ext>
            </a:extLst>
          </p:cNvPr>
          <p:cNvSpPr txBox="1"/>
          <p:nvPr/>
        </p:nvSpPr>
        <p:spPr>
          <a:xfrm>
            <a:off x="2141163" y="5719483"/>
            <a:ext cx="67038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500" b="1" dirty="0"/>
              <a:t>In plain terms:</a:t>
            </a:r>
            <a:r>
              <a:rPr lang="en-US" sz="1500" dirty="0"/>
              <a:t> if you want to stop spoilage, the single most effective thing to fix is keeping temperature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500" dirty="0"/>
              <a:t>inside the ideal band. That matters more than smoothing out humidity or avoiding bumps in the road.</a:t>
            </a:r>
          </a:p>
        </p:txBody>
      </p:sp>
    </p:spTree>
    <p:extLst>
      <p:ext uri="{BB962C8B-B14F-4D97-AF65-F5344CB8AC3E}">
        <p14:creationId xmlns:p14="http://schemas.microsoft.com/office/powerpoint/2010/main" val="2683698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C4BA-606D-BC69-0F2B-35AF74590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Step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EFFE-C4F3-A0BC-EDA5-2BAE6F5A4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68316"/>
            <a:ext cx="8946541" cy="47800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3. The Real Culprit: Faulty Cooling Units 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dirty="0"/>
              <a:t>We tagged which containers had a cooling unit that started failing partway through the trip. The difference in outcome is dramatic: Containers with a </a:t>
            </a:r>
            <a:r>
              <a:rPr lang="en-US" b="1" dirty="0"/>
              <a:t>working</a:t>
            </a:r>
            <a:r>
              <a:rPr lang="en-US" dirty="0"/>
              <a:t> cooling unit finished their trip with an average quality score of </a:t>
            </a:r>
            <a:r>
              <a:rPr lang="en-US" b="1" dirty="0"/>
              <a:t>96.6 / 100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Containers with a </a:t>
            </a:r>
            <a:r>
              <a:rPr lang="en-US" b="1" dirty="0"/>
              <a:t>faulty</a:t>
            </a:r>
            <a:r>
              <a:rPr lang="en-US" dirty="0"/>
              <a:t> cooling unit finished with an average quality score of just </a:t>
            </a:r>
            <a:r>
              <a:rPr lang="en-US" b="1" dirty="0"/>
              <a:t>40.5 / 100</a:t>
            </a:r>
            <a:r>
              <a:rPr lang="en-US" dirty="0"/>
              <a:t> — well into spoiled territory. </a:t>
            </a:r>
          </a:p>
          <a:p>
            <a:pPr algn="just"/>
            <a:r>
              <a:rPr lang="en-US" dirty="0"/>
              <a:t>Faulty units let the average temperature drift </a:t>
            </a:r>
            <a:r>
              <a:rPr lang="en-US" b="1" dirty="0"/>
              <a:t>1.99°C</a:t>
            </a:r>
            <a:r>
              <a:rPr lang="en-US" dirty="0"/>
              <a:t> outside the safe range, versus only </a:t>
            </a:r>
            <a:r>
              <a:rPr lang="en-US" b="1" dirty="0"/>
              <a:t>0.03°C</a:t>
            </a:r>
            <a:r>
              <a:rPr lang="en-US" dirty="0"/>
              <a:t> for healthy units. </a:t>
            </a:r>
          </a:p>
          <a:p>
            <a:pPr algn="just"/>
            <a:r>
              <a:rPr lang="en-US" dirty="0"/>
              <a:t>102 of the 550 containers (</a:t>
            </a:r>
            <a:r>
              <a:rPr lang="en-US" b="1" dirty="0"/>
              <a:t>18.5%</a:t>
            </a:r>
            <a:r>
              <a:rPr lang="en-US" dirty="0"/>
              <a:t>) developed a cooling fault during transit.</a:t>
            </a:r>
          </a:p>
        </p:txBody>
      </p:sp>
    </p:spTree>
    <p:extLst>
      <p:ext uri="{BB962C8B-B14F-4D97-AF65-F5344CB8AC3E}">
        <p14:creationId xmlns:p14="http://schemas.microsoft.com/office/powerpoint/2010/main" val="3905714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B37CC-9697-9E42-677D-CADA7E04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106C93-9D12-257B-B021-A4C564E913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1167" y="1341775"/>
            <a:ext cx="6779078" cy="33533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5D08D0-B7F9-9661-EFF6-CAC1B0BE41CB}"/>
              </a:ext>
            </a:extLst>
          </p:cNvPr>
          <p:cNvSpPr txBox="1"/>
          <p:nvPr/>
        </p:nvSpPr>
        <p:spPr>
          <a:xfrm>
            <a:off x="2141167" y="4813271"/>
            <a:ext cx="67790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/>
              <a:t>Average final quality score, containers with working vs. faulty cooling units.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89A2F0-766A-6803-A82A-B45D3F1F0A6A}"/>
              </a:ext>
            </a:extLst>
          </p:cNvPr>
          <p:cNvSpPr txBox="1"/>
          <p:nvPr/>
        </p:nvSpPr>
        <p:spPr>
          <a:xfrm>
            <a:off x="2141167" y="5398046"/>
            <a:ext cx="66840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1" dirty="0"/>
              <a:t>In plain terms:</a:t>
            </a:r>
            <a:r>
              <a:rPr lang="en-US" sz="1600" dirty="0"/>
              <a:t> a single mechanical fault (cooling unit failure) is responsible for almost all the serious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spoilage cases in this data. Catching a failing cooling unit early — before temperature drifts too far — is the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highest-value alert the dashboard can send.</a:t>
            </a:r>
          </a:p>
        </p:txBody>
      </p:sp>
    </p:spTree>
    <p:extLst>
      <p:ext uri="{BB962C8B-B14F-4D97-AF65-F5344CB8AC3E}">
        <p14:creationId xmlns:p14="http://schemas.microsoft.com/office/powerpoint/2010/main" val="1903656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3648-507F-5778-0179-F80118E74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Step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1402F-265F-F17F-534D-B0D443E88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59524"/>
            <a:ext cx="8946541" cy="478887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4. Which Commodities Are Most Vulnerable? 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sz="1900" dirty="0"/>
              <a:t>Some produce spoils faster than others when conditions aren't perfect, because their safe temperature/humidity windows are narrower. </a:t>
            </a:r>
          </a:p>
          <a:p>
            <a:pPr algn="just"/>
            <a:r>
              <a:rPr lang="en-US" sz="1900" b="1" dirty="0"/>
              <a:t>Strawberries</a:t>
            </a:r>
            <a:r>
              <a:rPr lang="en-US" sz="1900" dirty="0"/>
              <a:t> hold up worst — average quality score of only </a:t>
            </a:r>
            <a:r>
              <a:rPr lang="en-US" sz="1900" b="1" dirty="0"/>
              <a:t>76.8</a:t>
            </a:r>
            <a:r>
              <a:rPr lang="en-US" sz="1900" dirty="0"/>
              <a:t>. They need a very tight 0-2°C range. </a:t>
            </a:r>
          </a:p>
          <a:p>
            <a:pPr algn="just"/>
            <a:r>
              <a:rPr lang="en-US" sz="1900" b="1" dirty="0"/>
              <a:t>Grapes</a:t>
            </a:r>
            <a:r>
              <a:rPr lang="en-US" sz="1900" dirty="0"/>
              <a:t> (81.2) and </a:t>
            </a:r>
            <a:r>
              <a:rPr lang="en-US" sz="1900" b="1" dirty="0"/>
              <a:t>Blueberries</a:t>
            </a:r>
            <a:r>
              <a:rPr lang="en-US" sz="1900" dirty="0"/>
              <a:t> (85.2) are also sensitive. </a:t>
            </a:r>
          </a:p>
          <a:p>
            <a:pPr algn="just"/>
            <a:r>
              <a:rPr lang="en-US" sz="1900" b="1" dirty="0"/>
              <a:t>Tomatoes</a:t>
            </a:r>
            <a:r>
              <a:rPr lang="en-US" sz="1900" dirty="0"/>
              <a:t> are the most forgiving — average quality score of </a:t>
            </a:r>
            <a:r>
              <a:rPr lang="en-US" sz="1900" b="1" dirty="0"/>
              <a:t>93.2</a:t>
            </a:r>
            <a:r>
              <a:rPr lang="en-US" sz="1900" dirty="0"/>
              <a:t> — they tolerate a wider temperature band.</a:t>
            </a:r>
          </a:p>
        </p:txBody>
      </p:sp>
    </p:spTree>
    <p:extLst>
      <p:ext uri="{BB962C8B-B14F-4D97-AF65-F5344CB8AC3E}">
        <p14:creationId xmlns:p14="http://schemas.microsoft.com/office/powerpoint/2010/main" val="3970721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E223E-DFB2-7BFC-AA84-9F6E8EE7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91444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Bar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FE1F13-0B47-E83E-6C71-7C3CDCA08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21272" y="1287708"/>
            <a:ext cx="6293643" cy="348651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4AE5CD-378C-5244-32BE-77406465A9E3}"/>
              </a:ext>
            </a:extLst>
          </p:cNvPr>
          <p:cNvSpPr txBox="1"/>
          <p:nvPr/>
        </p:nvSpPr>
        <p:spPr>
          <a:xfrm>
            <a:off x="2421270" y="5016294"/>
            <a:ext cx="62936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500" dirty="0"/>
              <a:t>Average quality score by commodity type, across all 550 containers.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F00C1-BA49-872C-C5A7-81C37908D9D4}"/>
              </a:ext>
            </a:extLst>
          </p:cNvPr>
          <p:cNvSpPr txBox="1"/>
          <p:nvPr/>
        </p:nvSpPr>
        <p:spPr>
          <a:xfrm>
            <a:off x="2421270" y="5682926"/>
            <a:ext cx="62936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500" b="1" dirty="0"/>
              <a:t>In plain terms:</a:t>
            </a:r>
            <a:r>
              <a:rPr lang="en-US" sz="1500" dirty="0"/>
              <a:t> if resources are limited, prioritize the highest-precision cooling monitoring for strawberries,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500" dirty="0"/>
              <a:t>grapes, and blueberries — they have the least room for error.</a:t>
            </a:r>
          </a:p>
        </p:txBody>
      </p:sp>
    </p:spTree>
    <p:extLst>
      <p:ext uri="{BB962C8B-B14F-4D97-AF65-F5344CB8AC3E}">
        <p14:creationId xmlns:p14="http://schemas.microsoft.com/office/powerpoint/2010/main" val="491979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30FC1-6B79-5B3D-09CE-8EBDB2275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Step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B5A86-4EC8-7978-DBB7-43AE075BD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22131"/>
            <a:ext cx="8946541" cy="502626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5. The Money Question: Is Rerouting Worth It? </a:t>
            </a:r>
            <a:endParaRPr lang="en-US" sz="16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sz="1600" dirty="0"/>
              <a:t>For every container, we compared the value of pushing on to the original (primary) market versus rerouting now to a closer (secondary) market at a slightly lower price per kg. </a:t>
            </a:r>
          </a:p>
          <a:p>
            <a:pPr algn="just"/>
            <a:r>
              <a:rPr lang="en-US" sz="1600" dirty="0"/>
              <a:t>Across the 74 containers currently At-Risk or Critical, </a:t>
            </a:r>
            <a:r>
              <a:rPr lang="en-US" sz="1600" b="1" dirty="0"/>
              <a:t>$538,693</a:t>
            </a:r>
            <a:r>
              <a:rPr lang="en-US" sz="1600" dirty="0"/>
              <a:t> worth of cargo (at primary-market pricing) is exposed to further spoilage. </a:t>
            </a:r>
          </a:p>
          <a:p>
            <a:pPr algn="just"/>
            <a:r>
              <a:rPr lang="en-US" sz="1600" dirty="0"/>
              <a:t>If all 74 were rerouted to their secondary market </a:t>
            </a:r>
            <a:r>
              <a:rPr lang="en-US" sz="1600" b="1" dirty="0"/>
              <a:t>right now</a:t>
            </a:r>
            <a:r>
              <a:rPr lang="en-US" sz="1600" dirty="0"/>
              <a:t>, the combined realized value would be </a:t>
            </a:r>
            <a:r>
              <a:rPr lang="en-US" sz="1600" b="1" dirty="0"/>
              <a:t>$659,226</a:t>
            </a:r>
            <a:r>
              <a:rPr lang="en-US" sz="1600" dirty="0"/>
              <a:t>. </a:t>
            </a:r>
          </a:p>
          <a:p>
            <a:pPr algn="just"/>
            <a:r>
              <a:rPr lang="en-US" sz="1600" dirty="0"/>
              <a:t>That's a combined gain of </a:t>
            </a:r>
            <a:r>
              <a:rPr lang="en-US" sz="1600" b="1" dirty="0"/>
              <a:t>$120,533</a:t>
            </a:r>
            <a:r>
              <a:rPr lang="en-US" sz="1600" dirty="0"/>
              <a:t> — because arriving sooner (shorter distance) locks in a higher surviving quality, even though the secondary market's base price per kg is lower. </a:t>
            </a:r>
          </a:p>
          <a:p>
            <a:pPr algn="just"/>
            <a:r>
              <a:rPr lang="en-US" sz="1600" dirty="0"/>
              <a:t>Only </a:t>
            </a:r>
            <a:r>
              <a:rPr lang="en-US" sz="1600" b="1" dirty="0"/>
              <a:t>59 of 550 containers overall</a:t>
            </a:r>
            <a:r>
              <a:rPr lang="en-US" sz="1600" dirty="0"/>
              <a:t> currently show a positive arbitrage opportunity — meaning most cargo is still better off completing its original route. Rerouting is a targeted decision, not a blanket policy.</a:t>
            </a:r>
          </a:p>
        </p:txBody>
      </p:sp>
    </p:spTree>
    <p:extLst>
      <p:ext uri="{BB962C8B-B14F-4D97-AF65-F5344CB8AC3E}">
        <p14:creationId xmlns:p14="http://schemas.microsoft.com/office/powerpoint/2010/main" val="218293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54DAB-CFC3-0ADA-40EE-8E4A63231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Bar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5014A5-75E3-56F6-1E14-820F3AD9D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1102" y="1296500"/>
            <a:ext cx="6526740" cy="322274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E2D1CD-897E-843B-A3FC-C0BECE0756B9}"/>
              </a:ext>
            </a:extLst>
          </p:cNvPr>
          <p:cNvSpPr txBox="1"/>
          <p:nvPr/>
        </p:nvSpPr>
        <p:spPr>
          <a:xfrm>
            <a:off x="2331102" y="4519246"/>
            <a:ext cx="65267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/>
              <a:t>Top 15 At-Risk/Critical containers ranked by how much extra money rerouting would earn (green = reroute is profitable, red = better to continue to primary market despite the risk status).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560718-052A-04FF-77EA-4C939DB9D55A}"/>
              </a:ext>
            </a:extLst>
          </p:cNvPr>
          <p:cNvSpPr txBox="1"/>
          <p:nvPr/>
        </p:nvSpPr>
        <p:spPr>
          <a:xfrm>
            <a:off x="2331102" y="5561500"/>
            <a:ext cx="65267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b="1" dirty="0"/>
              <a:t>In plain terms:</a:t>
            </a:r>
            <a:r>
              <a:rPr lang="en-US" sz="1400" dirty="0"/>
              <a:t> spoilage arbitrage isn't automatic — it only pays off once a container's quality has dropped far enough that the shorter trip to a nearby market preserves more value than the higher price at the original destination. The dashboard's job is to flag that crossover point for each container individually</a:t>
            </a:r>
          </a:p>
        </p:txBody>
      </p:sp>
    </p:spTree>
    <p:extLst>
      <p:ext uri="{BB962C8B-B14F-4D97-AF65-F5344CB8AC3E}">
        <p14:creationId xmlns:p14="http://schemas.microsoft.com/office/powerpoint/2010/main" val="1590960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EC6F-7755-01A9-42B2-4EF8CD26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Step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02F4D-8F68-8D18-50CB-6E129356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01262"/>
            <a:ext cx="8946541" cy="494713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9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6. What This Means for the Dashboard </a:t>
            </a:r>
            <a:endParaRPr lang="en-US" sz="19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sz="1900" b="1" dirty="0"/>
              <a:t>Priority alert:</a:t>
            </a:r>
            <a:r>
              <a:rPr lang="en-US" sz="1900" dirty="0"/>
              <a:t> flag any container where temperature deviation starts climbing (even 1-2°C) — this is the earliest warning sign of a failing cooling unit, well before quality visibly drops. </a:t>
            </a:r>
          </a:p>
          <a:p>
            <a:pPr algn="just"/>
            <a:r>
              <a:rPr lang="en-US" sz="1900" b="1" dirty="0"/>
              <a:t>Watch list:</a:t>
            </a:r>
            <a:r>
              <a:rPr lang="en-US" sz="1900" dirty="0"/>
              <a:t> containers carrying strawberries, grapes, or blueberries deserve tighter alert thresholds than tomatoes or bananas.</a:t>
            </a:r>
          </a:p>
          <a:p>
            <a:pPr algn="just"/>
            <a:r>
              <a:rPr lang="en-US" sz="1900" b="1" dirty="0"/>
              <a:t>Reroute recommendation:</a:t>
            </a:r>
            <a:r>
              <a:rPr lang="en-US" sz="1900" dirty="0"/>
              <a:t> only surface a reroute suggestion when </a:t>
            </a:r>
            <a:r>
              <a:rPr lang="en-US" sz="1900" dirty="0" err="1"/>
              <a:t>arbitrage_gain_usd</a:t>
            </a:r>
            <a:r>
              <a:rPr lang="en-US" sz="1900" dirty="0"/>
              <a:t> is positive — don't reroute every At-Risk container by default, since 15 of the top 15 At-Risk/Critical containers still </a:t>
            </a:r>
          </a:p>
          <a:p>
            <a:pPr algn="just"/>
            <a:r>
              <a:rPr lang="en-US" sz="1900" dirty="0"/>
              <a:t>show mixed results (see Figure 5). </a:t>
            </a:r>
          </a:p>
          <a:p>
            <a:pPr algn="just"/>
            <a:r>
              <a:rPr lang="en-US" sz="1900" b="1" dirty="0"/>
              <a:t>Vibration:</a:t>
            </a:r>
            <a:r>
              <a:rPr lang="en-US" sz="1900" dirty="0"/>
              <a:t> deprioritize vibration-based alerts for spoilage purposes — this data shows it isn't a meaningful driver of quality loss compared to temperature and humidity.</a:t>
            </a:r>
          </a:p>
        </p:txBody>
      </p:sp>
    </p:spTree>
    <p:extLst>
      <p:ext uri="{BB962C8B-B14F-4D97-AF65-F5344CB8AC3E}">
        <p14:creationId xmlns:p14="http://schemas.microsoft.com/office/powerpoint/2010/main" val="513947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B767F-FEF4-D2FA-512B-7FDF1747A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Tools we use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9E37B-667D-B79B-64B1-977B22852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Python (</a:t>
            </a:r>
            <a:r>
              <a:rPr lang="en-US" sz="2400" dirty="0" err="1"/>
              <a:t>Pandas,Numpy,Matplotlib</a:t>
            </a:r>
            <a:r>
              <a:rPr lang="en-US" sz="2400" dirty="0"/>
              <a:t> seaborn)</a:t>
            </a:r>
          </a:p>
          <a:p>
            <a:pPr algn="just"/>
            <a:r>
              <a:rPr lang="en-US" sz="2400" dirty="0"/>
              <a:t>Excel</a:t>
            </a:r>
          </a:p>
          <a:p>
            <a:pPr algn="just"/>
            <a:r>
              <a:rPr lang="en-US" sz="2400" dirty="0"/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1016735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156C2-7405-41BE-451B-25C0C4E2D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80" y="2728735"/>
            <a:ext cx="9404723" cy="1400530"/>
          </a:xfrm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/>
          <a:lstStyle/>
          <a:p>
            <a:pPr algn="ctr"/>
            <a:r>
              <a:rPr lang="en-US" sz="65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THANK YOU!!!</a:t>
            </a:r>
          </a:p>
        </p:txBody>
      </p:sp>
      <p:pic>
        <p:nvPicPr>
          <p:cNvPr id="7" name="Graphic 6" descr="In love face with solid fill with solid fill">
            <a:extLst>
              <a:ext uri="{FF2B5EF4-FFF2-40B4-BE49-F238E27FC236}">
                <a16:creationId xmlns:a16="http://schemas.microsoft.com/office/drawing/2014/main" id="{B9932139-5149-0729-802F-72811CA40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6364" y="3721888"/>
            <a:ext cx="814754" cy="81475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</p:pic>
    </p:spTree>
    <p:extLst>
      <p:ext uri="{BB962C8B-B14F-4D97-AF65-F5344CB8AC3E}">
        <p14:creationId xmlns:p14="http://schemas.microsoft.com/office/powerpoint/2010/main" val="30508433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117</TotalTime>
  <Words>1265</Words>
  <Application>Microsoft Office PowerPoint</Application>
  <PresentationFormat>Widescreen</PresentationFormat>
  <Paragraphs>81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Cambria</vt:lpstr>
      <vt:lpstr>Century Gothic</vt:lpstr>
      <vt:lpstr>Times New Roman</vt:lpstr>
      <vt:lpstr>Wingdings</vt:lpstr>
      <vt:lpstr>Wingdings 3</vt:lpstr>
      <vt:lpstr>Ion</vt:lpstr>
      <vt:lpstr>AtmoSync: Micro-Climate Analytics</vt:lpstr>
      <vt:lpstr>Problem statements &amp; use cases</vt:lpstr>
      <vt:lpstr>OverView</vt:lpstr>
      <vt:lpstr>Step 1</vt:lpstr>
      <vt:lpstr>Bar Chat</vt:lpstr>
      <vt:lpstr>Step 2</vt:lpstr>
      <vt:lpstr>Scatter Chart</vt:lpstr>
      <vt:lpstr>Step 3</vt:lpstr>
      <vt:lpstr>Bar chart</vt:lpstr>
      <vt:lpstr>Step 4</vt:lpstr>
      <vt:lpstr>Bar chart</vt:lpstr>
      <vt:lpstr>Step 5</vt:lpstr>
      <vt:lpstr>Bar Chart</vt:lpstr>
      <vt:lpstr>Step 6</vt:lpstr>
      <vt:lpstr>Tools we use 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Mameeth C</dc:creator>
  <cp:lastModifiedBy>Mameeth C</cp:lastModifiedBy>
  <cp:revision>1</cp:revision>
  <dcterms:created xsi:type="dcterms:W3CDTF">2026-07-09T07:02:48Z</dcterms:created>
  <dcterms:modified xsi:type="dcterms:W3CDTF">2026-07-09T09:00:27Z</dcterms:modified>
</cp:coreProperties>
</file>